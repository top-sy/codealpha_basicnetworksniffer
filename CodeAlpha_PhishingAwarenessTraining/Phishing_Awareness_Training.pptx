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83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E1621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41F2E"/>
          </a:solidFill>
          <a:ln w="12700">
            <a:solidFill>
              <a:srgbClr val="141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85232" y="0"/>
            <a:ext cx="27432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1554480" cy="15544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257860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658368"/>
            <a:ext cx="1737360" cy="274320"/>
          </a:xfrm>
          <a:prstGeom prst="rect">
            <a:avLst/>
          </a:prstGeom>
          <a:solidFill>
            <a:srgbClr val="1C2540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CODEALPHA · 2026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65760" y="914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</a:t>
            </a:r>
            <a:endParaRPr lang="en-US" sz="5800" dirty="0"/>
          </a:p>
        </p:txBody>
      </p:sp>
      <p:sp>
        <p:nvSpPr>
          <p:cNvPr id="10" name="Text 6"/>
          <p:cNvSpPr/>
          <p:nvPr/>
        </p:nvSpPr>
        <p:spPr>
          <a:xfrm>
            <a:off x="365760" y="1783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 Training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65760" y="24871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Detecting, and Preventing Phishing Attacks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054096"/>
            <a:ext cx="4572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3017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 &amp; Types of Attacks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383280"/>
            <a:ext cx="4572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33467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 Chain Works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3712464"/>
            <a:ext cx="4572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Emails &amp; Fake Websites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4041648"/>
            <a:ext cx="4572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" y="4370832"/>
            <a:ext cx="4572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" y="4334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Incidents &amp; Prevention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·  Security Awareness Program  ·  2026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Phishing?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9601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859536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59536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7680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" y="105156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entities — banks, companies, or government agencies — to deceive victims into revealing sensitive information such as passwords, financial data, or personal credentials.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828800"/>
            <a:ext cx="8595360" cy="530352"/>
          </a:xfrm>
          <a:prstGeom prst="rect">
            <a:avLst/>
          </a:prstGeom>
          <a:solidFill>
            <a:srgbClr val="1C254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865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 Billion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103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 (Statista 2024)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83280" y="1865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2103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involve phishing (Verizon DBIR 2024)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7920" y="1865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$4.9M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2103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of a phishing breach (IBM 2024)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74320" y="2468880"/>
            <a:ext cx="2011680" cy="245059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468880"/>
            <a:ext cx="2011680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3347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3154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Login Pages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65760" y="35661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clones of real sites (banking, social media) that harvest credentials on entry.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450592" y="2468880"/>
            <a:ext cx="2011680" cy="245059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50592" y="2468880"/>
            <a:ext cx="2011680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263347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542032" y="3154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Reset Scams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542032" y="35661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emails claiming account compromise — redirecting you to a fake reset portal.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626864" y="2468880"/>
            <a:ext cx="2011680" cy="245059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626864" y="2468880"/>
            <a:ext cx="2011680" cy="36576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2633472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18304" y="3154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Quishing (QR Phishing)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718304" y="35661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QR codes in emails or print materials that redirect to phishing sites — bypassing link scanners.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803136" y="2468880"/>
            <a:ext cx="2011680" cy="245059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03136" y="2468880"/>
            <a:ext cx="2011680" cy="36576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2633472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894576" y="3154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Phishing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894576" y="35661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craft flawless, personalised phishing messages with zero grammar errors — a 2024 surge.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Phishing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39112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039112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92354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472184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Phishing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1801368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Mass-blast deceptive emails mimicking legitimate brands to thousands of recipients simultaneously.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23160" y="777240"/>
            <a:ext cx="2039112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3160" y="777240"/>
            <a:ext cx="2039112" cy="36576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92354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1472184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 Phishing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496312" y="1801368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built using OSINT — victim's name, role, and colleagues are weaponised for credibility.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0" y="777240"/>
            <a:ext cx="2039112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0" y="777240"/>
            <a:ext cx="2039112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524" y="923544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45152" y="1472184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Whaling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45152" y="1801368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Executive-grade attacks on CEOs and CFOs. Often precedes large wire-transfer fraud (BEC).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720840" y="777240"/>
            <a:ext cx="2039112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20840" y="777240"/>
            <a:ext cx="2039112" cy="36576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364" y="923544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93992" y="1472184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Smishing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793992" y="1801368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phishing — fake delivery alerts, bank OTPs, or prize texts with malicious short links.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758952" y="2697480"/>
            <a:ext cx="2737104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8952" y="2697480"/>
            <a:ext cx="2737104" cy="36576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1472" y="2843784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2104" y="3392424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Vishing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32104" y="3721608"/>
            <a:ext cx="259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impersonating tech support, IRS, or bank fraud departments over phone calls.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624072" y="2697480"/>
            <a:ext cx="2737104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24072" y="2697480"/>
            <a:ext cx="2737104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2843784"/>
            <a:ext cx="475488" cy="4754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97224" y="3392424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Quishing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3697224" y="3721608"/>
            <a:ext cx="259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phishing — physical or email QR codes redirect victims to credential-stealing pages. ↑2024.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6489192" y="2697480"/>
            <a:ext cx="2737104" cy="1755648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89192" y="2697480"/>
            <a:ext cx="2737104" cy="36576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1712" y="2843784"/>
            <a:ext cx="475488" cy="4754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2344" y="3392424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Phishing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6562344" y="3721608"/>
            <a:ext cx="259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you already received is duplicated with links swapped for malicious ones.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Phishing Works — The Attack Chain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1335024" cy="39319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77240"/>
            <a:ext cx="1335024" cy="36576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960120"/>
            <a:ext cx="548640" cy="548640"/>
          </a:xfrm>
          <a:prstGeom prst="line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" y="2377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Reconnaissance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9184" y="278892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mines LinkedIn, company sites &amp; social media to craft a convincing lure (OSINT).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18488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773936" y="777240"/>
            <a:ext cx="1335024" cy="39319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73936" y="777240"/>
            <a:ext cx="1335024" cy="36576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57984" y="960120"/>
            <a:ext cx="548640" cy="548640"/>
          </a:xfrm>
          <a:prstGeom prst="line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57984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1664208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28800" y="2377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Lure Crafted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847088" y="278892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now write flawless, personalised phishing messages — no spelling errors.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136392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3291840" y="777240"/>
            <a:ext cx="1335024" cy="39319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91840" y="777240"/>
            <a:ext cx="1335024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75888" y="960120"/>
            <a:ext cx="548640" cy="548640"/>
          </a:xfrm>
          <a:prstGeom prst="lin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75888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1664208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346704" y="2377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Sent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364992" y="278892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voice call, or QR code delivered across multiple channels simultaneously.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654296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4809744" y="777240"/>
            <a:ext cx="1335024" cy="39319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09744" y="777240"/>
            <a:ext cx="1335024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193792" y="960120"/>
            <a:ext cx="548640" cy="548640"/>
          </a:xfrm>
          <a:prstGeom prst="lin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193792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1664208"/>
            <a:ext cx="548640" cy="5486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864608" y="2377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Victim Acts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882896" y="278892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link, opens attachment, or dials back a fake number.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6172200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Shape 31"/>
          <p:cNvSpPr/>
          <p:nvPr/>
        </p:nvSpPr>
        <p:spPr>
          <a:xfrm>
            <a:off x="6327648" y="777240"/>
            <a:ext cx="1335024" cy="39319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327648" y="777240"/>
            <a:ext cx="1335024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711696" y="960120"/>
            <a:ext cx="548640" cy="548640"/>
          </a:xfrm>
          <a:prstGeom prst="lin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711696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1664208"/>
            <a:ext cx="548640" cy="5486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382512" y="2377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Theft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6400800" y="278892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site or AiTM proxy captures login &amp; OTP — bypassing MFA in real time.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7690104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5" name="Shape 38"/>
          <p:cNvSpPr/>
          <p:nvPr/>
        </p:nvSpPr>
        <p:spPr>
          <a:xfrm>
            <a:off x="7845552" y="777240"/>
            <a:ext cx="1335024" cy="393192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7845552" y="777240"/>
            <a:ext cx="1335024" cy="36576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8229600" y="960120"/>
            <a:ext cx="548640" cy="548640"/>
          </a:xfrm>
          <a:prstGeom prst="line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2296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664208"/>
            <a:ext cx="548640" cy="54864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900416" y="2377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Exploitation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7918704" y="278892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takeover, wire fraud, ransomware deployment, or credential resale on dark web.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256032" y="4572000"/>
            <a:ext cx="8631936" cy="256032"/>
          </a:xfrm>
          <a:prstGeom prst="rect">
            <a:avLst/>
          </a:prstGeom>
          <a:solidFill>
            <a:srgbClr val="1C2540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320040" y="458114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AiTM Alert — Attacker-in-the-Middle proxies now intercept live MFA tokens, meaning MFA alone does NOT fully stop modern phishing. Use phishing-resistant FIDO2/passkeys where possible.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Recognize Phishing Emails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4206240" cy="126187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77240"/>
            <a:ext cx="4206240" cy="36576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70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8686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Suspicious Sender Address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6112" y="1197864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actual domain — paypa1.com vs paypal.com. Display name spoofing can show 'PayPal Support' while the real address is random@xyz.net.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777240"/>
            <a:ext cx="4206240" cy="126187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777240"/>
            <a:ext cx="4206240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170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8686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 / Threatening Language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03520" y="1197864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hours!" — urgency kills rational thought. Legitimate companies do not pressure like this.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56032" y="2148840"/>
            <a:ext cx="4206240" cy="126187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6032" y="2148840"/>
            <a:ext cx="4206240" cy="36576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54203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" y="22402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Spelling &amp; Grammar Errors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96112" y="2569464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emails now use AI — so errors alone are no longer reliable. Look for stilted phrasing or off-brand tone instead.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63440" y="2148840"/>
            <a:ext cx="4206240" cy="126187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2148840"/>
            <a:ext cx="4206240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254203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2402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Mismatched / Hoverable Links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303520" y="2569464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clicking. The displayed text may say 'PayPal' while the URL goes to paypa1-secure.net. On mobile, long-press to preview.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56032" y="3520440"/>
            <a:ext cx="4206240" cy="126187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56032" y="3520440"/>
            <a:ext cx="4206240" cy="36576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91363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112" y="3611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 Attachments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96112" y="3941064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.zip, .exe, .docx (with macros), or .iso files disguised as invoices, receipts, or urgent documents.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663440" y="3520440"/>
            <a:ext cx="4206240" cy="126187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63440" y="3520440"/>
            <a:ext cx="4206240" cy="36576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913632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03520" y="3611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or Off Greeting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303520" y="3941064"/>
            <a:ext cx="3456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or your name used unnaturally signals a mass campaign. Real companies personalise correctly and consistently.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Fake Websites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8631936" cy="475488"/>
          </a:xfrm>
          <a:prstGeom prst="rect">
            <a:avLst/>
          </a:prstGeom>
          <a:solidFill>
            <a:srgbClr val="0A1220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50392"/>
            <a:ext cx="182880" cy="182880"/>
          </a:xfrm>
          <a:prstGeom prst="line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777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http://paypa1.com-login.suspicious-domain.xyz/secure/account/verify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26187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4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Dissect this URL: wrong protocol · misspelled brand · extra subdomain · unrelated root domain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536192"/>
            <a:ext cx="2798064" cy="150876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536192"/>
            <a:ext cx="2798064" cy="36576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1168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Typosquatting &amp; Homographs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9536" y="1993392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paypa1.com, rnicrosoft.com (rn ≠ m), g00gle.com. Unicode lookalike characters are now common in attacks.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536192"/>
            <a:ext cx="2798064" cy="150876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536192"/>
            <a:ext cx="2798064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201168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03904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≠ Safe (Common Myth!)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803904" y="1993392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phishing sites now use HTTPS with valid SSL. The padlock only means the connection is encrypted — NOT that the site is legitimate. Always verify the domain name, not just the padlock.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44768" y="1536192"/>
            <a:ext cx="2798064" cy="150876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4768" y="1536192"/>
            <a:ext cx="2798064" cy="36576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201168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48272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 Popups or Redirects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748272" y="1993392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login prompts, fake prize alerts, or multiple redirects before landing are hallmarks of phishing infrastructure.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56032" y="3163824"/>
            <a:ext cx="2798064" cy="150876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56032" y="3163824"/>
            <a:ext cx="2798064" cy="36576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639312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9536" y="3255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Visual Quality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859536" y="3621024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logos, broken fonts, misaligned elements. Cloned sites rarely replicate every CSS detail correctly.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00400" y="3163824"/>
            <a:ext cx="2798064" cy="150876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0400" y="3163824"/>
            <a:ext cx="2798064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639312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03904" y="3255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Suspicious Login Requests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3803904" y="3621024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credentials, OTPs, or card numbers on a domain that has nothing to do with the claimed brand.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6144768" y="3163824"/>
            <a:ext cx="2798064" cy="150876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144768" y="3163824"/>
            <a:ext cx="2798064" cy="36576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639312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48272" y="3255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via Independent Search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6748272" y="3621024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links in emails. Manually type the official domain or use a search engine. Check domain age at whois.domaintools.com.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Engineering Tactics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psychology — not just technical weaknesses.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98064" cy="178308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78992"/>
            <a:ext cx="2798064" cy="36576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78992"/>
            <a:ext cx="2798064" cy="292608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2471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115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140817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your account will be permanently deleted!"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" y="1865376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time pressure bypasses critical thinking and forces impulsive action.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1078992"/>
            <a:ext cx="2798064" cy="178308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078992"/>
            <a:ext cx="2798064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078992"/>
            <a:ext cx="2798064" cy="292608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2471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6160" y="1115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91840" y="140817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"Suspicious activity detected. Verify your identity immediately."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91840" y="1865376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consequences — account loss, legal action, financial damage — overrides caution.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44768" y="1078992"/>
            <a:ext cx="2798064" cy="178308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44768" y="1078992"/>
            <a:ext cx="2798064" cy="36576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44768" y="1078992"/>
            <a:ext cx="2798064" cy="292608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12471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10528" y="1115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36208" y="140817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your IT department. Reset your password using the link below."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236208" y="1865376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bosses, vendors, or institutions triggers automatic compliance in most people.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56032" y="2980944"/>
            <a:ext cx="2798064" cy="178308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56032" y="2980944"/>
            <a:ext cx="2798064" cy="36576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56032" y="2980944"/>
            <a:ext cx="2798064" cy="292608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02666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1792" y="30175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47472" y="33101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"Congratulations! You've been selected for a £500 Amazon gift card."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347472" y="3767328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Enticement lowers guard. Victims provide personal data in exchange for a promised reward.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200400" y="2980944"/>
            <a:ext cx="2798064" cy="178308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200400" y="2980944"/>
            <a:ext cx="2798064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200400" y="2980944"/>
            <a:ext cx="2798064" cy="29260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02666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566160" y="30175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CURIOSITY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291840" y="33101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who viewed your LinkedIn profile in the last 24 hours…"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3291840" y="3767328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human curiosity drives clicks before any verification takes place.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144768" y="2980944"/>
            <a:ext cx="2798064" cy="178308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144768" y="2980944"/>
            <a:ext cx="2798064" cy="36576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144768" y="2980944"/>
            <a:ext cx="2798064" cy="292608"/>
          </a:xfrm>
          <a:prstGeom prst="rect">
            <a:avLst/>
          </a:prstGeom>
          <a:solidFill>
            <a:srgbClr val="8B87C4"/>
          </a:solidFill>
          <a:ln w="12700">
            <a:solidFill>
              <a:srgbClr val="8B87C4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026664"/>
            <a:ext cx="219456" cy="21945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510528" y="30175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PRETEXTING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236208" y="33101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calling from your bank's fraud team. We need to verify your card now."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6236208" y="3767328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fabricated scenario is created to establish false trust before extracting information.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Phishing Incidents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high-impact cases from </a:t>
            </a:r>
            <a:r>
              <a:rPr lang="en-US" sz="1050" i="1" dirty="0" smtClean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 </a:t>
            </a:r>
            <a:r>
              <a:rPr lang="en-US" sz="105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made headlines: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42416"/>
            <a:ext cx="2816352" cy="3785616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42416"/>
            <a:ext cx="2816352" cy="347472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515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MGM Resorts — 2023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444752"/>
            <a:ext cx="2633472" cy="237744"/>
          </a:xfrm>
          <a:prstGeom prst="rect">
            <a:avLst/>
          </a:prstGeom>
          <a:solidFill>
            <a:srgbClr val="1C254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538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4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TYPE: Vishing + Spear Phishing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73736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9202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 in losses. Operations disrupted for 10+ days.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30428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MGM's IT helpdesk posing as an employee. Using info from LinkedIn, they convinced support to reset MFA — gaining full system access within minutes.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321868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LESSONS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34015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phone call brought down a $14B company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36941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used — pure social engineering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" y="398678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(ALPHV/BlackCat) deployed after initial access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472" y="4279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why helpdesk verification must be robust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18688" y="1042416"/>
            <a:ext cx="2816352" cy="3785616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1042416"/>
            <a:ext cx="2816352" cy="347472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0515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Twilio / Okta — 2022–23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0128" y="1444752"/>
            <a:ext cx="2633472" cy="237744"/>
          </a:xfrm>
          <a:prstGeom prst="rect">
            <a:avLst/>
          </a:prstGeom>
          <a:solidFill>
            <a:srgbClr val="1C254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14538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49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TYPE: SMS Phishing (Smishing) Campaign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10128" y="173736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10128" y="19202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organisations compromised. Affected Uber, DoorDash, Signal.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230428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10128" y="24871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SMS messages posing as IT alerts, directing them to fake Okta login pages. Credentials and OTPs were harvested in real time via AiTM proxy.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10128" y="321868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LESSONS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10128" y="34015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AiTM proxy bypassed MFA completely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10128" y="36941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SMS came from seemingly trusted numbers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10128" y="398678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customers of Twilio also compromised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10128" y="4279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4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amplification of a single phishing campaign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81344" y="1042416"/>
            <a:ext cx="2816352" cy="3785616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1042416"/>
            <a:ext cx="2816352" cy="347472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105156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Healthcare — 2024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72784" y="1444752"/>
            <a:ext cx="2633472" cy="237744"/>
          </a:xfrm>
          <a:prstGeom prst="rect">
            <a:avLst/>
          </a:prstGeom>
          <a:solidFill>
            <a:srgbClr val="1C254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145389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8D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TYPE: Credential Phishing → Ransomware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72784" y="173736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72784" y="19202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$872M disclosed losses. 100M+ patient records exposed. Largest US healthcare breach.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72784" y="230428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72784" y="24871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stolen credentials (no MFA on a legacy portal) to access the network. Deployed ALPHV ransomware, crippling US pharmacy systems for weeks.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72784" y="321868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LESSONS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72784" y="34015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 on a remote access portal was the entry point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72784" y="36941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1 in 3 Americans' health records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72784" y="398678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unable to process prescriptions for weeks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72784" y="4279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UnitedHealth Group paid ~$22M ransom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Prevention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8631936" cy="75895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77240"/>
            <a:ext cx="45720" cy="758952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41832"/>
            <a:ext cx="384048" cy="384048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960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850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the Sender — Beyond the Display Name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98448" y="11795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actual email address, not just the name shown. Use SPF, DKIM &amp; DMARC records to validate email legitimacy at an organisational level.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" y="1609344"/>
            <a:ext cx="8631936" cy="75895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1609344"/>
            <a:ext cx="45720" cy="758952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1773936"/>
            <a:ext cx="384048" cy="384048"/>
          </a:xfrm>
          <a:prstGeom prst="rect">
            <a:avLst/>
          </a:prstGeom>
          <a:solidFill>
            <a:srgbClr val="C47A7A"/>
          </a:solidFill>
          <a:ln w="12700">
            <a:solidFill>
              <a:srgbClr val="C47A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7922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1682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Click — Navigate Directly Instead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298448" y="201168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type URLs into your browser. On suspicious emails, hover links first. Install anti-phishing extensions: Netcraft or Microsoft Defender Browser Protection.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56032" y="2441448"/>
            <a:ext cx="8631936" cy="75895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56032" y="2441448"/>
            <a:ext cx="45720" cy="7589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62432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98448" y="2514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Phishing-Resistant MFA (FIDO2/Passkeys)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298448" y="284378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SMS or TOTP MFA can be bypassed by AiTM attacks. Prefer hardware security keys (YubiKey) or passkeys — they are phishing-resistant by design.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56032" y="3273552"/>
            <a:ext cx="8631936" cy="75895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56032" y="3273552"/>
            <a:ext cx="45720" cy="758952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5760" y="3438144"/>
            <a:ext cx="384048" cy="384048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576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456432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98448" y="33467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Strong, Unique Passwords + Password Manager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298448" y="367588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(Bitwarden, 1Password). Never reuse passwords. A breach on one site cannot cascade to others if credentials are unique.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256032" y="4105656"/>
            <a:ext cx="8631936" cy="75895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56032" y="4105656"/>
            <a:ext cx="45720" cy="758952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5760" y="4270248"/>
            <a:ext cx="384048" cy="384048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288536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298448" y="41788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&amp; Train — Build a Human Firewall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1298448" y="450799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via your email client's built-in button. Organisations should run simulated phishing with platforms like KnowBe4 or Proofpoint Security Awareness.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118872"/>
            <a:ext cx="36576" cy="42062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 — Interactive Quiz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138160" cy="1234440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41248"/>
            <a:ext cx="813816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9611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includes a fully interactive 10-question quiz — one question per page with instant feedback and a complete scored results summary at the end.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file  Phishing_Quiz_Interactive.html  in any web browser to begin.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1609344" cy="162763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12848"/>
            <a:ext cx="1609344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Q1-Q2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Types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2212848"/>
            <a:ext cx="1609344" cy="162763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212848"/>
            <a:ext cx="1609344" cy="36576"/>
          </a:xfrm>
          <a:prstGeom prst="rect">
            <a:avLst/>
          </a:prstGeom>
          <a:solidFill>
            <a:srgbClr val="6C7FD8"/>
          </a:solidFill>
          <a:ln w="12700">
            <a:solidFill>
              <a:srgbClr val="6C7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7F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Q3-Q4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5786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&amp; Social Eng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9040" y="2212848"/>
            <a:ext cx="1609344" cy="162763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212848"/>
            <a:ext cx="1609344" cy="3657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9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Q5-Q6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25786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&amp; Attachments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2212848"/>
            <a:ext cx="1609344" cy="162763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2212848"/>
            <a:ext cx="1609344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Q7-Q8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25786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&amp; CEO Fraud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2212848"/>
            <a:ext cx="1609344" cy="1627632"/>
          </a:xfrm>
          <a:prstGeom prst="rect">
            <a:avLst/>
          </a:prstGeom>
          <a:solidFill>
            <a:srgbClr val="19203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212848"/>
            <a:ext cx="1609344" cy="36576"/>
          </a:xfrm>
          <a:prstGeom prst="rect">
            <a:avLst/>
          </a:prstGeom>
          <a:solidFill>
            <a:srgbClr val="6BAE9C"/>
          </a:solidFill>
          <a:ln w="12700">
            <a:solidFill>
              <a:srgbClr val="6BAE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AE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Q9-Q10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25786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 Incidents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986784"/>
            <a:ext cx="8595360" cy="658368"/>
          </a:xfrm>
          <a:prstGeom prst="rect">
            <a:avLst/>
          </a:prstGeom>
          <a:solidFill>
            <a:srgbClr val="1C2540"/>
          </a:solidFill>
          <a:ln w="12700">
            <a:solidFill>
              <a:srgbClr val="2531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scenario-based questions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5176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question per page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answer feedback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scored results &amp; breakdown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37083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browser  ·  No internet required  ·  Resets perfectly on reload  ·  CodeAlpha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10  ·  CodeAlpha Phishing Awareness Training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1665</Words>
  <Application>Microsoft Office PowerPoint</Application>
  <PresentationFormat>On-screen Show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Cybersecurity</dc:creator>
  <cp:lastModifiedBy>Microsoft account</cp:lastModifiedBy>
  <cp:revision>2</cp:revision>
  <dcterms:created xsi:type="dcterms:W3CDTF">2026-05-04T22:05:37Z</dcterms:created>
  <dcterms:modified xsi:type="dcterms:W3CDTF">2026-05-06T22:45:19Z</dcterms:modified>
</cp:coreProperties>
</file>